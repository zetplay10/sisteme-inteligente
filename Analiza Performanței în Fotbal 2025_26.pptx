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Urbanist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82a73efe3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82a73efe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2a73efe3_24_0)">
  <p:cSld name="Generated (g3e82a73efe3_2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5475" y="4068216"/>
            <a:ext cx="8401050" cy="107037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780335" y="1719411"/>
            <a:ext cx="106313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Analiza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Performanței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în Fotbal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2366962" y="3043386"/>
            <a:ext cx="7458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Sisteme Inteligente aplicate în Scouting Obiectiv: Sezonul 2025/2026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2286000" y="4268241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Obiectiv:</a:t>
            </a: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Trecerea de la evaluările subiective media, la predicții bazate 100% pe date, folosind modele Machine Learning.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25" y="1895475"/>
            <a:ext cx="4714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571500" y="2171700"/>
            <a:ext cx="60507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Sursă și Amploare</a:t>
            </a:r>
            <a:endParaRPr/>
          </a:p>
        </p:txBody>
      </p:sp>
      <p:pic>
        <p:nvPicPr>
          <p:cNvPr descr="image.png" id="97" name="Google Shape;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1905000"/>
            <a:ext cx="46958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952500" y="2724150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Sursă Principală: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FBref via Kaggle (Top 5 Ligi Europene din 2025/26).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52500" y="3524250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Dimensiune Brută: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~2.800 jucători inițiali, cu peste 102 coloane statistice.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952500" y="4324350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Categorii Urmărite: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Atac, Apărare, Pase, Pressing, Goalkeeping.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52500" y="4819650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Calitatea Datelor: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Date reale, agregate pe întreg sezonul competițional.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Ecosistemul de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Date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43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43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387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1421"/>
            <a:ext cx="3492400" cy="3148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21421"/>
            <a:ext cx="3492549" cy="3148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21421"/>
            <a:ext cx="3492400" cy="3148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692896"/>
            <a:ext cx="28256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04875" y="3312021"/>
            <a:ext cx="29669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Curățare Strictă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04875" y="3797796"/>
            <a:ext cx="28256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Am filtrat setul la </a:t>
            </a:r>
            <a:r>
              <a:rPr b="1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minim 900 de minute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(aprox. 10 meciuri) pentru relevanță. Jucătorii cu puține minute generau zgomot statistic.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025" y="2692896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4683025" y="3312021"/>
            <a:ext cx="296708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Normalizare P90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83025" y="3797796"/>
            <a:ext cx="2825799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Calcularea tuturor metricilor la standardul </a:t>
            </a:r>
            <a:r>
              <a:rPr b="1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"per 90 min"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pentru a asigura o comparație 1 la 1 între titulari și rezerve.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325" y="2692896"/>
            <a:ext cx="28256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461325" y="3312021"/>
            <a:ext cx="29669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Separare Target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61325" y="3797796"/>
            <a:ext cx="28256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Am izolat variabilele "proces" (șuturi, pase) de variabilele "rezultat" (goluri, +/-) pentru a opri orice </a:t>
            </a:r>
            <a:r>
              <a:rPr b="1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Data Leakage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Ingineria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Caracteristicilor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(Data Prep)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Arhitectura </a:t>
            </a: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Modelelor</a:t>
            </a:r>
            <a:r>
              <a:rPr b="1" lang="en-US" sz="36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ML</a:t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5">
            <a:alphaModFix/>
          </a:blip>
          <a:srcRect b="5105" l="10" r="0" t="0"/>
          <a:stretch/>
        </p:blipFill>
        <p:spPr>
          <a:xfrm>
            <a:off x="381000" y="1333500"/>
            <a:ext cx="7905900" cy="4953000"/>
          </a:xfrm>
          <a:prstGeom prst="roundRect">
            <a:avLst>
              <a:gd fmla="val 2884" name="adj"/>
            </a:avLst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2488" y="1804988"/>
            <a:ext cx="3438600" cy="40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667750" y="200025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Teste &amp; Optimizare</a:t>
            </a:r>
            <a:endParaRPr b="1" sz="2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667750" y="2571750"/>
            <a:ext cx="3048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S-au testat 10 algoritmi folosind </a:t>
            </a: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5-Fold Cross-Validation</a:t>
            </a:r>
            <a:r>
              <a:rPr b="0"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sz="15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Extra Trees:</a:t>
            </a:r>
            <a:r>
              <a:rPr b="0"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Cel mai precis pentru Atacanți (captează bine outlierii).</a:t>
            </a:r>
            <a:endParaRPr b="0" sz="15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Ridge Regression:</a:t>
            </a:r>
            <a:r>
              <a:rPr b="0"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Robust pentru a estima G+A la Mijlocași.</a:t>
            </a:r>
            <a:endParaRPr b="0" sz="15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SVR / ElasticNet:</a:t>
            </a:r>
            <a:r>
              <a:rPr b="0"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Cele mai performante pentru Portari și Fundași datorită regularizării.</a:t>
            </a:r>
            <a:endParaRPr b="0" sz="150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4879776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Scorul R² arată ce procent din varianța target-ului este explicat.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Corelația este extrem de puternică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pentru acțiunile ofensive și impactul defensiv (+/-90).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Performanța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Modelelor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(Scorul R²)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9560"/>
            <a:ext cx="2583656" cy="4352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281" y="1719560"/>
            <a:ext cx="2583656" cy="4352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1719560"/>
            <a:ext cx="2583656" cy="4352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6843" y="1719560"/>
            <a:ext cx="2583656" cy="435232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756939" y="2043410"/>
            <a:ext cx="22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Atacanți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809625" y="2462510"/>
            <a:ext cx="210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578721" y="2043410"/>
            <a:ext cx="22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Mijlocași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3631406" y="2462510"/>
            <a:ext cx="210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6400502" y="2043410"/>
            <a:ext cx="22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Fundași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453187" y="2462510"/>
            <a:ext cx="210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9222283" y="2043410"/>
            <a:ext cx="221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Portari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9274968" y="2462510"/>
            <a:ext cx="21075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762000" y="2710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Harry Kane (Bayern Munich - 0.94)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762000" y="3281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Deniz Undav (Stuttgart - 0.85)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762000" y="3853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R. Lewandowski (Barcelona - 0.82)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762000" y="4424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Ferrán Torres (Barcelona - 0.75)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762000" y="4996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 Lautaro Martínez (Inter - 0.74)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3583781" y="2710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Michael Olise (Bayern Munich - 25.78)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83781" y="3281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Luis Díaz (Bayern Munich - 19.37)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583781" y="3853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Serge Gnabry (Bayern Munich - 17.84)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583781" y="4424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Lamine Yamal (Barcelona - 17.28)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3583781" y="4996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 Marcus Rashford (Barcelona - 16.79)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6405563" y="2710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Konrad Laimer (Bayern Munich - 2.70)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405563" y="3281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Dayot Upamecano (Bayern Munich - 2.60)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405563" y="3853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Josip Stanišić (Bayern Munich - 2.53)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405563" y="4424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Tom Bischof (Bayern Munich - 2.45)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405563" y="4996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 Jonathan Tah (Bayern Munich - 2.32)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9227344" y="2710158"/>
            <a:ext cx="2202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Hervé Koffi (Angers - 79.10)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9227344" y="3281658"/>
            <a:ext cx="2202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Mile Svilar (Roma - 77.41)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227344" y="38531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Joan García (Barcelona - 77.20)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9227344" y="4424658"/>
            <a:ext cx="2202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M. Carnesecchi (Atalanta - 77.08)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227344" y="4996158"/>
            <a:ext cx="2202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 Ivan Provedel (Lazio - 76.61)</a:t>
            </a:r>
            <a:endParaRPr b="0" sz="13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Top 5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Jucători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(Ranking pe baza Predicției)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25" y="1895475"/>
            <a:ext cx="4714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2114550"/>
            <a:ext cx="60507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 am descoperit?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1905000"/>
            <a:ext cx="46958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952500" y="2667000"/>
            <a:ext cx="5381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Modelele Ensemble domină: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ExtraTrees captează excelent outlierii din dataset-urile mici.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52500" y="3467100"/>
            <a:ext cx="5381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Contextul Echipei contează: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La fundași, metricile sunt influențate masiv de dominanța clubului (ex: Top 5 exclusiv Bayern).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4572000"/>
            <a:ext cx="5381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Surprize obiective: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Jucători precum Deniz Undav sau Hervé Koffi generează cifre de elită fără a avea același "hype" mediatic.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Concluzii și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Limitări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86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86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10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